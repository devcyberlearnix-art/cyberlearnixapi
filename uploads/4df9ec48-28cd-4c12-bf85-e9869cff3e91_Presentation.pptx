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 /><Relationship Id="rId7" Type="http://schemas.microsoft.com/office/2016/11/relationships/changesInfo" Target="changesInfos/changesInfo1.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tableStyles" Target="tableStyles.xml" /><Relationship Id="rId5" Type="http://schemas.openxmlformats.org/officeDocument/2006/relationships/theme" Target="theme/theme1.xml" /><Relationship Id="rId4" Type="http://schemas.openxmlformats.org/officeDocument/2006/relationships/viewProps" Target="viewProps.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nujathanuja211@gmail.com" userId="5a1d618a835dfe64" providerId="LiveId" clId="{51EC6C31-5D0B-864F-8579-F50D9936A610}"/>
    <pc:docChg chg="custSel modSld">
      <pc:chgData name="thanujathanuja211@gmail.com" userId="5a1d618a835dfe64" providerId="LiveId" clId="{51EC6C31-5D0B-864F-8579-F50D9936A610}" dt="2025-02-02T13:34:24.926" v="4" actId="22"/>
      <pc:docMkLst>
        <pc:docMk/>
      </pc:docMkLst>
      <pc:sldChg chg="addSp delSp modSp">
        <pc:chgData name="thanujathanuja211@gmail.com" userId="5a1d618a835dfe64" providerId="LiveId" clId="{51EC6C31-5D0B-864F-8579-F50D9936A610}" dt="2025-02-02T13:34:24.926" v="4" actId="22"/>
        <pc:sldMkLst>
          <pc:docMk/>
          <pc:sldMk cId="3166766135" sldId="256"/>
        </pc:sldMkLst>
        <pc:spChg chg="del mod">
          <ac:chgData name="thanujathanuja211@gmail.com" userId="5a1d618a835dfe64" providerId="LiveId" clId="{51EC6C31-5D0B-864F-8579-F50D9936A610}" dt="2025-02-02T13:34:20.876" v="3" actId="478"/>
          <ac:spMkLst>
            <pc:docMk/>
            <pc:sldMk cId="3166766135" sldId="256"/>
            <ac:spMk id="2" creationId="{B2C3EC1E-7219-2C01-E22A-42C2D24D91DA}"/>
          </ac:spMkLst>
        </pc:spChg>
        <pc:spChg chg="add">
          <ac:chgData name="thanujathanuja211@gmail.com" userId="5a1d618a835dfe64" providerId="LiveId" clId="{51EC6C31-5D0B-864F-8579-F50D9936A610}" dt="2025-02-02T13:34:24.926" v="4" actId="22"/>
          <ac:spMkLst>
            <pc:docMk/>
            <pc:sldMk cId="3166766135" sldId="256"/>
            <ac:spMk id="5" creationId="{684342BB-4F0F-05A2-8A1E-3564E880B2B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2/2/2025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07779AC-8A91-AE6B-BFFC-4863FF4F09F1}"/>
              </a:ext>
            </a:extLst>
          </p:cNvPr>
          <p:cNvSpPr>
            <a:spLocks noGrp="1"/>
          </p:cNvSpPr>
          <p:nvPr>
            <p:ph type="subTitle" idx="1"/>
          </p:nvPr>
        </p:nvSpPr>
        <p:spPr/>
        <p:txBody>
          <a:bodyPr/>
          <a:lstStyle/>
          <a:p>
            <a:endParaRPr lang="en-US"/>
          </a:p>
        </p:txBody>
      </p:sp>
      <p:sp>
        <p:nvSpPr>
          <p:cNvPr id="5" name="TextBox 4">
            <a:extLst>
              <a:ext uri="{FF2B5EF4-FFF2-40B4-BE49-F238E27FC236}">
                <a16:creationId xmlns:a16="http://schemas.microsoft.com/office/drawing/2014/main" id="{684342BB-4F0F-05A2-8A1E-3564E880B2B8}"/>
              </a:ext>
            </a:extLst>
          </p:cNvPr>
          <p:cNvSpPr txBox="1"/>
          <p:nvPr/>
        </p:nvSpPr>
        <p:spPr>
          <a:xfrm>
            <a:off x="3042047" y="-58941921"/>
            <a:ext cx="6107906" cy="124741841"/>
          </a:xfrm>
          <a:prstGeom prst="rect">
            <a:avLst/>
          </a:prstGeom>
          <a:noFill/>
        </p:spPr>
        <p:txBody>
          <a:bodyPr wrap="square">
            <a:spAutoFit/>
          </a:bodyPr>
          <a:lstStyle/>
          <a:p>
            <a:r>
              <a:rPr lang="en-GB"/>
              <a:t>ChatGPT </a:t>
            </a:r>
          </a:p>
          <a:p>
            <a:r>
              <a:rPr lang="en-GB"/>
              <a:t>Log in</a:t>
            </a:r>
          </a:p>
          <a:p>
            <a:r>
              <a:rPr lang="en-GB"/>
              <a:t>Sign up</a:t>
            </a:r>
          </a:p>
          <a:p>
            <a:r>
              <a:rPr lang="en-GB" b="1"/>
              <a:t>You said:</a:t>
            </a:r>
          </a:p>
          <a:p>
            <a:r>
              <a:rPr lang="en-GB"/>
              <a:t>Give me the presentation on topic fraud detection system to make ppt</a:t>
            </a:r>
          </a:p>
          <a:p>
            <a:r>
              <a:rPr lang="en-GB" b="1"/>
              <a:t>ChatGPT said:</a:t>
            </a:r>
          </a:p>
          <a:p>
            <a:r>
              <a:rPr lang="en-GB"/>
              <a:t>ChatGPT</a:t>
            </a:r>
          </a:p>
          <a:p>
            <a:r>
              <a:rPr lang="en-GB"/>
              <a:t>Here’s an outline for a presentation on </a:t>
            </a:r>
            <a:r>
              <a:rPr lang="en-GB" b="1"/>
              <a:t>Fraud Detection Systems</a:t>
            </a:r>
            <a:r>
              <a:rPr lang="en-GB"/>
              <a:t>, which you can use for your PowerPoint presentation:</a:t>
            </a:r>
          </a:p>
          <a:p>
            <a:r>
              <a:rPr lang="en-GB" b="1"/>
              <a:t>Slide 1: Title Slide</a:t>
            </a:r>
          </a:p>
          <a:p>
            <a:pPr>
              <a:buFont typeface="Arial" panose="020B0604020202020204" pitchFamily="34" charset="0"/>
              <a:buChar char="•"/>
            </a:pPr>
            <a:r>
              <a:rPr lang="en-GB" b="1"/>
              <a:t>Title:</a:t>
            </a:r>
            <a:r>
              <a:rPr lang="en-GB"/>
              <a:t> Fraud Detection System</a:t>
            </a:r>
          </a:p>
          <a:p>
            <a:pPr>
              <a:buFont typeface="Arial" panose="020B0604020202020204" pitchFamily="34" charset="0"/>
              <a:buChar char="•"/>
            </a:pPr>
            <a:r>
              <a:rPr lang="en-GB" b="1"/>
              <a:t>Subtitle:</a:t>
            </a:r>
            <a:r>
              <a:rPr lang="en-GB"/>
              <a:t> Understanding and Implementing Fraud Prevention</a:t>
            </a:r>
          </a:p>
          <a:p>
            <a:pPr>
              <a:buFont typeface="Arial" panose="020B0604020202020204" pitchFamily="34" charset="0"/>
              <a:buChar char="•"/>
            </a:pPr>
            <a:r>
              <a:rPr lang="en-GB" b="1"/>
              <a:t>Your Name</a:t>
            </a:r>
            <a:endParaRPr lang="en-GB"/>
          </a:p>
          <a:p>
            <a:pPr>
              <a:buFont typeface="Arial" panose="020B0604020202020204" pitchFamily="34" charset="0"/>
              <a:buChar char="•"/>
            </a:pPr>
            <a:r>
              <a:rPr lang="en-GB" b="1"/>
              <a:t>Date</a:t>
            </a:r>
            <a:endParaRPr lang="en-GB"/>
          </a:p>
          <a:p>
            <a:r>
              <a:rPr lang="en-GB" b="1"/>
              <a:t>Slide 2: Introduction to Fraud Detection</a:t>
            </a:r>
          </a:p>
          <a:p>
            <a:pPr>
              <a:buFont typeface="Arial" panose="020B0604020202020204" pitchFamily="34" charset="0"/>
              <a:buChar char="•"/>
            </a:pPr>
            <a:r>
              <a:rPr lang="en-GB" b="1"/>
              <a:t>Definition of Fraud Detection:</a:t>
            </a:r>
            <a:endParaRPr lang="en-GB"/>
          </a:p>
          <a:p>
            <a:pPr marL="742950" lvl="1" indent="-285750">
              <a:buFont typeface="Arial" panose="020B0604020202020204" pitchFamily="34" charset="0"/>
              <a:buChar char="•"/>
            </a:pPr>
            <a:r>
              <a:rPr lang="en-GB"/>
              <a:t>Fraud detection involves identifying and preventing unauthorized or fraudulent activities.</a:t>
            </a:r>
          </a:p>
          <a:p>
            <a:pPr marL="742950" lvl="1" indent="-285750">
              <a:buFont typeface="Arial" panose="020B0604020202020204" pitchFamily="34" charset="0"/>
              <a:buChar char="•"/>
            </a:pPr>
            <a:r>
              <a:rPr lang="en-GB"/>
              <a:t>It can apply to financial transactions, online activity, insurance claims, etc.</a:t>
            </a:r>
          </a:p>
          <a:p>
            <a:pPr>
              <a:buFont typeface="Arial" panose="020B0604020202020204" pitchFamily="34" charset="0"/>
              <a:buChar char="•"/>
            </a:pPr>
            <a:r>
              <a:rPr lang="en-GB" b="1"/>
              <a:t>Why Fraud Detection is Important:</a:t>
            </a:r>
            <a:endParaRPr lang="en-GB"/>
          </a:p>
          <a:p>
            <a:pPr marL="742950" lvl="1" indent="-285750">
              <a:buFont typeface="Arial" panose="020B0604020202020204" pitchFamily="34" charset="0"/>
              <a:buChar char="•"/>
            </a:pPr>
            <a:r>
              <a:rPr lang="en-GB"/>
              <a:t>Protects organizations from financial losses.</a:t>
            </a:r>
          </a:p>
          <a:p>
            <a:pPr marL="742950" lvl="1" indent="-285750">
              <a:buFont typeface="Arial" panose="020B0604020202020204" pitchFamily="34" charset="0"/>
              <a:buChar char="•"/>
            </a:pPr>
            <a:r>
              <a:rPr lang="en-GB"/>
              <a:t>Safeguards customer data and trust.</a:t>
            </a:r>
          </a:p>
          <a:p>
            <a:pPr marL="742950" lvl="1" indent="-285750">
              <a:buFont typeface="Arial" panose="020B0604020202020204" pitchFamily="34" charset="0"/>
              <a:buChar char="•"/>
            </a:pPr>
            <a:r>
              <a:rPr lang="en-GB"/>
              <a:t>Prevents reputational damage.</a:t>
            </a:r>
          </a:p>
          <a:p>
            <a:r>
              <a:rPr lang="en-GB" b="1"/>
              <a:t>Slide 3: Types of Fraud</a:t>
            </a:r>
          </a:p>
          <a:p>
            <a:pPr>
              <a:buFont typeface="Arial" panose="020B0604020202020204" pitchFamily="34" charset="0"/>
              <a:buChar char="•"/>
            </a:pPr>
            <a:r>
              <a:rPr lang="en-GB" b="1"/>
              <a:t>Financial Fraud:</a:t>
            </a:r>
            <a:endParaRPr lang="en-GB"/>
          </a:p>
          <a:p>
            <a:pPr marL="742950" lvl="1" indent="-285750">
              <a:buFont typeface="Arial" panose="020B0604020202020204" pitchFamily="34" charset="0"/>
              <a:buChar char="•"/>
            </a:pPr>
            <a:r>
              <a:rPr lang="en-GB"/>
              <a:t>Credit card fraud, phishing, account takeover.</a:t>
            </a:r>
          </a:p>
          <a:p>
            <a:pPr>
              <a:buFont typeface="Arial" panose="020B0604020202020204" pitchFamily="34" charset="0"/>
              <a:buChar char="•"/>
            </a:pPr>
            <a:r>
              <a:rPr lang="en-GB" b="1"/>
              <a:t>Identity Fraud:</a:t>
            </a:r>
            <a:endParaRPr lang="en-GB"/>
          </a:p>
          <a:p>
            <a:pPr marL="742950" lvl="1" indent="-285750">
              <a:buFont typeface="Arial" panose="020B0604020202020204" pitchFamily="34" charset="0"/>
              <a:buChar char="•"/>
            </a:pPr>
            <a:r>
              <a:rPr lang="en-GB"/>
              <a:t>Identity theft, impersonation, synthetic identity fraud.</a:t>
            </a:r>
          </a:p>
          <a:p>
            <a:pPr>
              <a:buFont typeface="Arial" panose="020B0604020202020204" pitchFamily="34" charset="0"/>
              <a:buChar char="•"/>
            </a:pPr>
            <a:r>
              <a:rPr lang="en-GB" b="1"/>
              <a:t>Online Fraud:</a:t>
            </a:r>
            <a:endParaRPr lang="en-GB"/>
          </a:p>
          <a:p>
            <a:pPr marL="742950" lvl="1" indent="-285750">
              <a:buFont typeface="Arial" panose="020B0604020202020204" pitchFamily="34" charset="0"/>
              <a:buChar char="•"/>
            </a:pPr>
            <a:r>
              <a:rPr lang="en-GB"/>
              <a:t>Fraud in e-commerce, social engineering attacks, fake reviews.</a:t>
            </a:r>
          </a:p>
          <a:p>
            <a:pPr>
              <a:buFont typeface="Arial" panose="020B0604020202020204" pitchFamily="34" charset="0"/>
              <a:buChar char="•"/>
            </a:pPr>
            <a:r>
              <a:rPr lang="en-GB" b="1"/>
              <a:t>Insurance Fraud:</a:t>
            </a:r>
            <a:endParaRPr lang="en-GB"/>
          </a:p>
          <a:p>
            <a:pPr marL="742950" lvl="1" indent="-285750">
              <a:buFont typeface="Arial" panose="020B0604020202020204" pitchFamily="34" charset="0"/>
              <a:buChar char="•"/>
            </a:pPr>
            <a:r>
              <a:rPr lang="en-GB"/>
              <a:t>False claims, exaggerated damages, or staged accidents.</a:t>
            </a:r>
          </a:p>
          <a:p>
            <a:r>
              <a:rPr lang="en-GB" b="1"/>
              <a:t>Slide 4: Key Challenges in Fraud Detection</a:t>
            </a:r>
          </a:p>
          <a:p>
            <a:pPr>
              <a:buFont typeface="Arial" panose="020B0604020202020204" pitchFamily="34" charset="0"/>
              <a:buChar char="•"/>
            </a:pPr>
            <a:r>
              <a:rPr lang="en-GB" b="1"/>
              <a:t>Data Overload:</a:t>
            </a:r>
            <a:endParaRPr lang="en-GB"/>
          </a:p>
          <a:p>
            <a:pPr marL="742950" lvl="1" indent="-285750">
              <a:buFont typeface="Arial" panose="020B0604020202020204" pitchFamily="34" charset="0"/>
              <a:buChar char="•"/>
            </a:pPr>
            <a:r>
              <a:rPr lang="en-GB"/>
              <a:t>Huge volumes of transactions and data to process in real-time.</a:t>
            </a:r>
          </a:p>
          <a:p>
            <a:pPr>
              <a:buFont typeface="Arial" panose="020B0604020202020204" pitchFamily="34" charset="0"/>
              <a:buChar char="•"/>
            </a:pPr>
            <a:r>
              <a:rPr lang="en-GB" b="1"/>
              <a:t>Evolving Fraud Tactics:</a:t>
            </a:r>
            <a:endParaRPr lang="en-GB"/>
          </a:p>
          <a:p>
            <a:pPr marL="742950" lvl="1" indent="-285750">
              <a:buFont typeface="Arial" panose="020B0604020202020204" pitchFamily="34" charset="0"/>
              <a:buChar char="•"/>
            </a:pPr>
            <a:r>
              <a:rPr lang="en-GB"/>
              <a:t>Fraudsters continuously adapt to avoid detection.</a:t>
            </a:r>
          </a:p>
          <a:p>
            <a:pPr>
              <a:buFont typeface="Arial" panose="020B0604020202020204" pitchFamily="34" charset="0"/>
              <a:buChar char="•"/>
            </a:pPr>
            <a:r>
              <a:rPr lang="en-GB" b="1"/>
              <a:t>False Positives:</a:t>
            </a:r>
            <a:endParaRPr lang="en-GB"/>
          </a:p>
          <a:p>
            <a:pPr marL="742950" lvl="1" indent="-285750">
              <a:buFont typeface="Arial" panose="020B0604020202020204" pitchFamily="34" charset="0"/>
              <a:buChar char="•"/>
            </a:pPr>
            <a:r>
              <a:rPr lang="en-GB"/>
              <a:t>Correct transactions being flagged as fraud, causing inconvenience.</a:t>
            </a:r>
          </a:p>
          <a:p>
            <a:pPr>
              <a:buFont typeface="Arial" panose="020B0604020202020204" pitchFamily="34" charset="0"/>
              <a:buChar char="•"/>
            </a:pPr>
            <a:r>
              <a:rPr lang="en-GB" b="1"/>
              <a:t>Cost of Implementation:</a:t>
            </a:r>
            <a:endParaRPr lang="en-GB"/>
          </a:p>
          <a:p>
            <a:pPr marL="742950" lvl="1" indent="-285750">
              <a:buFont typeface="Arial" panose="020B0604020202020204" pitchFamily="34" charset="0"/>
              <a:buChar char="•"/>
            </a:pPr>
            <a:r>
              <a:rPr lang="en-GB"/>
              <a:t>Advanced systems can be expensive and require significant resources.</a:t>
            </a:r>
          </a:p>
          <a:p>
            <a:r>
              <a:rPr lang="en-GB" b="1"/>
              <a:t>Slide 5: Fraud Detection Techniques</a:t>
            </a:r>
          </a:p>
          <a:p>
            <a:pPr>
              <a:buFont typeface="+mj-lt"/>
              <a:buAutoNum type="arabicPeriod"/>
            </a:pPr>
            <a:r>
              <a:rPr lang="en-GB" b="1"/>
              <a:t>Rule-Based Systems:</a:t>
            </a:r>
            <a:endParaRPr lang="en-GB"/>
          </a:p>
          <a:p>
            <a:pPr marL="742950" lvl="1" indent="-285750">
              <a:buFont typeface="+mj-lt"/>
              <a:buAutoNum type="arabicPeriod"/>
            </a:pPr>
            <a:r>
              <a:rPr lang="en-GB"/>
              <a:t>Predefined rules or thresholds to flag unusual activities (e.g., transaction amount &gt; $500).</a:t>
            </a:r>
          </a:p>
          <a:p>
            <a:pPr>
              <a:buFont typeface="+mj-lt"/>
              <a:buAutoNum type="arabicPeriod"/>
            </a:pPr>
            <a:r>
              <a:rPr lang="en-GB" b="1"/>
              <a:t>Machine Learning Models:</a:t>
            </a:r>
            <a:endParaRPr lang="en-GB"/>
          </a:p>
          <a:p>
            <a:pPr marL="742950" lvl="1" indent="-285750">
              <a:buFont typeface="+mj-lt"/>
              <a:buAutoNum type="arabicPeriod"/>
            </a:pPr>
            <a:r>
              <a:rPr lang="en-GB"/>
              <a:t>Uses algorithms to learn from patterns and predict fraudulent behavior.</a:t>
            </a:r>
          </a:p>
          <a:p>
            <a:pPr marL="742950" lvl="1" indent="-285750">
              <a:buFont typeface="+mj-lt"/>
              <a:buAutoNum type="arabicPeriod"/>
            </a:pPr>
            <a:r>
              <a:rPr lang="en-GB"/>
              <a:t>Includes supervised learning (classification) and unsupervised learning (anomaly detection).</a:t>
            </a:r>
          </a:p>
          <a:p>
            <a:pPr>
              <a:buFont typeface="+mj-lt"/>
              <a:buAutoNum type="arabicPeriod"/>
            </a:pPr>
            <a:r>
              <a:rPr lang="en-GB" b="1"/>
              <a:t>Data Analytics:</a:t>
            </a:r>
            <a:endParaRPr lang="en-GB"/>
          </a:p>
          <a:p>
            <a:pPr marL="742950" lvl="1" indent="-285750">
              <a:buFont typeface="+mj-lt"/>
              <a:buAutoNum type="arabicPeriod"/>
            </a:pPr>
            <a:r>
              <a:rPr lang="en-GB"/>
              <a:t>Advanced statistical methods and algorithms to detect trends, outliers, and anomalies.</a:t>
            </a:r>
          </a:p>
          <a:p>
            <a:pPr>
              <a:buFont typeface="+mj-lt"/>
              <a:buAutoNum type="arabicPeriod"/>
            </a:pPr>
            <a:r>
              <a:rPr lang="en-GB" b="1"/>
              <a:t>Artificial Intelligence (AI):</a:t>
            </a:r>
            <a:endParaRPr lang="en-GB"/>
          </a:p>
          <a:p>
            <a:pPr marL="742950" lvl="1" indent="-285750">
              <a:buFont typeface="+mj-lt"/>
              <a:buAutoNum type="arabicPeriod"/>
            </a:pPr>
            <a:r>
              <a:rPr lang="en-GB"/>
              <a:t>AI systems use predictive modeling and continuously learn from data to improve fraud detection over time.</a:t>
            </a:r>
          </a:p>
          <a:p>
            <a:pPr>
              <a:buFont typeface="+mj-lt"/>
              <a:buAutoNum type="arabicPeriod"/>
            </a:pPr>
            <a:r>
              <a:rPr lang="en-GB" b="1"/>
              <a:t>Behavioral Biometrics:</a:t>
            </a:r>
            <a:endParaRPr lang="en-GB"/>
          </a:p>
          <a:p>
            <a:pPr marL="742950" lvl="1" indent="-285750">
              <a:buFont typeface="+mj-lt"/>
              <a:buAutoNum type="arabicPeriod"/>
            </a:pPr>
            <a:r>
              <a:rPr lang="en-GB"/>
              <a:t>Monitoring user behavior (typing speed, mouse movement, etc.) to detect abnormal activity.</a:t>
            </a:r>
          </a:p>
          <a:p>
            <a:r>
              <a:rPr lang="en-GB" b="1"/>
              <a:t>Slide 6: Machine Learning in Fraud Detection</a:t>
            </a:r>
          </a:p>
          <a:p>
            <a:pPr>
              <a:buFont typeface="Arial" panose="020B0604020202020204" pitchFamily="34" charset="0"/>
              <a:buChar char="•"/>
            </a:pPr>
            <a:r>
              <a:rPr lang="en-GB" b="1"/>
              <a:t>Supervised Learning:</a:t>
            </a:r>
            <a:endParaRPr lang="en-GB"/>
          </a:p>
          <a:p>
            <a:pPr marL="742950" lvl="1" indent="-285750">
              <a:buFont typeface="Arial" panose="020B0604020202020204" pitchFamily="34" charset="0"/>
              <a:buChar char="•"/>
            </a:pPr>
            <a:r>
              <a:rPr lang="en-GB"/>
              <a:t>Trains a model on labeled data (fraud vs. non-fraud) to predict new instances.</a:t>
            </a:r>
          </a:p>
          <a:p>
            <a:pPr>
              <a:buFont typeface="Arial" panose="020B0604020202020204" pitchFamily="34" charset="0"/>
              <a:buChar char="•"/>
            </a:pPr>
            <a:r>
              <a:rPr lang="en-GB" b="1"/>
              <a:t>Unsupervised Learning:</a:t>
            </a:r>
            <a:endParaRPr lang="en-GB"/>
          </a:p>
          <a:p>
            <a:pPr marL="742950" lvl="1" indent="-285750">
              <a:buFont typeface="Arial" panose="020B0604020202020204" pitchFamily="34" charset="0"/>
              <a:buChar char="•"/>
            </a:pPr>
            <a:r>
              <a:rPr lang="en-GB"/>
              <a:t>Identifies new patterns without predefined labels, useful for detecting novel fraud schemes.</a:t>
            </a:r>
          </a:p>
          <a:p>
            <a:pPr>
              <a:buFont typeface="Arial" panose="020B0604020202020204" pitchFamily="34" charset="0"/>
              <a:buChar char="•"/>
            </a:pPr>
            <a:r>
              <a:rPr lang="en-GB" b="1"/>
              <a:t>Popular Algorithms:</a:t>
            </a:r>
            <a:endParaRPr lang="en-GB"/>
          </a:p>
          <a:p>
            <a:pPr marL="742950" lvl="1" indent="-285750">
              <a:buFont typeface="Arial" panose="020B0604020202020204" pitchFamily="34" charset="0"/>
              <a:buChar char="•"/>
            </a:pPr>
            <a:r>
              <a:rPr lang="en-GB"/>
              <a:t>Decision Trees, Random Forest, Support Vector Machines (SVM), Neural Networks.</a:t>
            </a:r>
          </a:p>
          <a:p>
            <a:r>
              <a:rPr lang="en-GB" b="1"/>
              <a:t>Slide 7: Real-Time vs. Batch Processing</a:t>
            </a:r>
          </a:p>
          <a:p>
            <a:pPr>
              <a:buFont typeface="Arial" panose="020B0604020202020204" pitchFamily="34" charset="0"/>
              <a:buChar char="•"/>
            </a:pPr>
            <a:r>
              <a:rPr lang="en-GB" b="1"/>
              <a:t>Real-Time Fraud Detection:</a:t>
            </a:r>
            <a:endParaRPr lang="en-GB"/>
          </a:p>
          <a:p>
            <a:pPr marL="742950" lvl="1" indent="-285750">
              <a:buFont typeface="Arial" panose="020B0604020202020204" pitchFamily="34" charset="0"/>
              <a:buChar char="•"/>
            </a:pPr>
            <a:r>
              <a:rPr lang="en-GB"/>
              <a:t>Transactions are analyzed immediately as they happen (e.g., credit card transactions).</a:t>
            </a:r>
          </a:p>
          <a:p>
            <a:pPr marL="742950" lvl="1" indent="-285750">
              <a:buFont typeface="Arial" panose="020B0604020202020204" pitchFamily="34" charset="0"/>
              <a:buChar char="•"/>
            </a:pPr>
            <a:r>
              <a:rPr lang="en-GB"/>
              <a:t>Critical for time-sensitive industries like banking or e-commerce.</a:t>
            </a:r>
          </a:p>
          <a:p>
            <a:pPr>
              <a:buFont typeface="Arial" panose="020B0604020202020204" pitchFamily="34" charset="0"/>
              <a:buChar char="•"/>
            </a:pPr>
            <a:r>
              <a:rPr lang="en-GB" b="1"/>
              <a:t>Batch Processing:</a:t>
            </a:r>
            <a:endParaRPr lang="en-GB"/>
          </a:p>
          <a:p>
            <a:pPr marL="742950" lvl="1" indent="-285750">
              <a:buFont typeface="Arial" panose="020B0604020202020204" pitchFamily="34" charset="0"/>
              <a:buChar char="•"/>
            </a:pPr>
            <a:r>
              <a:rPr lang="en-GB"/>
              <a:t>Fraud detection algorithms run periodically (e.g., daily or weekly) to flag patterns over time.</a:t>
            </a:r>
          </a:p>
          <a:p>
            <a:pPr marL="742950" lvl="1" indent="-285750">
              <a:buFont typeface="Arial" panose="020B0604020202020204" pitchFamily="34" charset="0"/>
              <a:buChar char="•"/>
            </a:pPr>
            <a:r>
              <a:rPr lang="en-GB"/>
              <a:t>Typically used for analyzing historical data and detecting large-scale fraud.</a:t>
            </a:r>
          </a:p>
          <a:p>
            <a:r>
              <a:rPr lang="en-GB" b="1"/>
              <a:t>Slide 8: Fraud Detection System Architecture</a:t>
            </a:r>
          </a:p>
          <a:p>
            <a:pPr>
              <a:buFont typeface="Arial" panose="020B0604020202020204" pitchFamily="34" charset="0"/>
              <a:buChar char="•"/>
            </a:pPr>
            <a:r>
              <a:rPr lang="en-GB" b="1"/>
              <a:t>Data Collection:</a:t>
            </a:r>
            <a:endParaRPr lang="en-GB"/>
          </a:p>
          <a:p>
            <a:pPr marL="742950" lvl="1" indent="-285750">
              <a:buFont typeface="Arial" panose="020B0604020202020204" pitchFamily="34" charset="0"/>
              <a:buChar char="•"/>
            </a:pPr>
            <a:r>
              <a:rPr lang="en-GB"/>
              <a:t>Collect transaction data, user activity, and other relevant inputs.</a:t>
            </a:r>
          </a:p>
          <a:p>
            <a:pPr>
              <a:buFont typeface="Arial" panose="020B0604020202020204" pitchFamily="34" charset="0"/>
              <a:buChar char="•"/>
            </a:pPr>
            <a:r>
              <a:rPr lang="en-GB" b="1"/>
              <a:t>Data Preprocessing:</a:t>
            </a:r>
            <a:endParaRPr lang="en-GB"/>
          </a:p>
          <a:p>
            <a:pPr marL="742950" lvl="1" indent="-285750">
              <a:buFont typeface="Arial" panose="020B0604020202020204" pitchFamily="34" charset="0"/>
              <a:buChar char="•"/>
            </a:pPr>
            <a:r>
              <a:rPr lang="en-GB"/>
              <a:t>Clean and structure data for analysis (e.g., removing duplicates, handling missing values).</a:t>
            </a:r>
          </a:p>
          <a:p>
            <a:pPr>
              <a:buFont typeface="Arial" panose="020B0604020202020204" pitchFamily="34" charset="0"/>
              <a:buChar char="•"/>
            </a:pPr>
            <a:r>
              <a:rPr lang="en-GB" b="1"/>
              <a:t>Model Training:</a:t>
            </a:r>
            <a:endParaRPr lang="en-GB"/>
          </a:p>
          <a:p>
            <a:pPr marL="742950" lvl="1" indent="-285750">
              <a:buFont typeface="Arial" panose="020B0604020202020204" pitchFamily="34" charset="0"/>
              <a:buChar char="•"/>
            </a:pPr>
            <a:r>
              <a:rPr lang="en-GB"/>
              <a:t>Train machine learning models to detect fraud based on historical data.</a:t>
            </a:r>
          </a:p>
          <a:p>
            <a:pPr>
              <a:buFont typeface="Arial" panose="020B0604020202020204" pitchFamily="34" charset="0"/>
              <a:buChar char="•"/>
            </a:pPr>
            <a:r>
              <a:rPr lang="en-GB" b="1"/>
              <a:t>Real-Time Monitoring:</a:t>
            </a:r>
            <a:endParaRPr lang="en-GB"/>
          </a:p>
          <a:p>
            <a:pPr marL="742950" lvl="1" indent="-285750">
              <a:buFont typeface="Arial" panose="020B0604020202020204" pitchFamily="34" charset="0"/>
              <a:buChar char="•"/>
            </a:pPr>
            <a:r>
              <a:rPr lang="en-GB"/>
              <a:t>Implement models to monitor transactions in real-time and flag suspicious activity.</a:t>
            </a:r>
          </a:p>
          <a:p>
            <a:pPr>
              <a:buFont typeface="Arial" panose="020B0604020202020204" pitchFamily="34" charset="0"/>
              <a:buChar char="•"/>
            </a:pPr>
            <a:r>
              <a:rPr lang="en-GB" b="1"/>
              <a:t>Alerting System:</a:t>
            </a:r>
            <a:endParaRPr lang="en-GB"/>
          </a:p>
          <a:p>
            <a:pPr marL="742950" lvl="1" indent="-285750">
              <a:buFont typeface="Arial" panose="020B0604020202020204" pitchFamily="34" charset="0"/>
              <a:buChar char="•"/>
            </a:pPr>
            <a:r>
              <a:rPr lang="en-GB"/>
              <a:t>Notify security teams or trigger automatic responses to suspected fraud.</a:t>
            </a:r>
          </a:p>
          <a:p>
            <a:pPr>
              <a:buFont typeface="Arial" panose="020B0604020202020204" pitchFamily="34" charset="0"/>
              <a:buChar char="•"/>
            </a:pPr>
            <a:r>
              <a:rPr lang="en-GB" b="1"/>
              <a:t>Reporting and Evaluation:</a:t>
            </a:r>
            <a:endParaRPr lang="en-GB"/>
          </a:p>
          <a:p>
            <a:pPr marL="742950" lvl="1" indent="-285750">
              <a:buFont typeface="Arial" panose="020B0604020202020204" pitchFamily="34" charset="0"/>
              <a:buChar char="•"/>
            </a:pPr>
            <a:r>
              <a:rPr lang="en-GB"/>
              <a:t>Regularly assess system performance and fine-tune for improvement.</a:t>
            </a:r>
          </a:p>
          <a:p>
            <a:r>
              <a:rPr lang="en-GB" b="1"/>
              <a:t>Slide 9: Tools &amp; Technologies for Fraud Detection</a:t>
            </a:r>
          </a:p>
          <a:p>
            <a:pPr>
              <a:buFont typeface="Arial" panose="020B0604020202020204" pitchFamily="34" charset="0"/>
              <a:buChar char="•"/>
            </a:pPr>
            <a:r>
              <a:rPr lang="en-GB" b="1"/>
              <a:t>Popular Fraud Detection Tools:</a:t>
            </a:r>
            <a:endParaRPr lang="en-GB"/>
          </a:p>
          <a:p>
            <a:pPr marL="742950" lvl="1" indent="-285750">
              <a:buFont typeface="Arial" panose="020B0604020202020204" pitchFamily="34" charset="0"/>
              <a:buChar char="•"/>
            </a:pPr>
            <a:r>
              <a:rPr lang="en-GB"/>
              <a:t>SAS Fraud Management, IBM Safer Payments, Actimize (NICE), and Kount.</a:t>
            </a:r>
          </a:p>
          <a:p>
            <a:pPr>
              <a:buFont typeface="Arial" panose="020B0604020202020204" pitchFamily="34" charset="0"/>
              <a:buChar char="•"/>
            </a:pPr>
            <a:r>
              <a:rPr lang="en-GB" b="1"/>
              <a:t>Technologies Used:</a:t>
            </a:r>
            <a:endParaRPr lang="en-GB"/>
          </a:p>
          <a:p>
            <a:pPr marL="742950" lvl="1" indent="-285750">
              <a:buFont typeface="Arial" panose="020B0604020202020204" pitchFamily="34" charset="0"/>
              <a:buChar char="•"/>
            </a:pPr>
            <a:r>
              <a:rPr lang="en-GB"/>
              <a:t>Big Data, AI/ML platforms, cloud services, blockchain for data integrity, biometric verification.</a:t>
            </a:r>
          </a:p>
          <a:p>
            <a:r>
              <a:rPr lang="en-GB" b="1"/>
              <a:t>Slide 10: Case Studies</a:t>
            </a:r>
          </a:p>
          <a:p>
            <a:pPr>
              <a:buFont typeface="+mj-lt"/>
              <a:buAutoNum type="arabicPeriod"/>
            </a:pPr>
            <a:r>
              <a:rPr lang="en-GB" b="1"/>
              <a:t>Credit Card Fraud Detection:</a:t>
            </a:r>
            <a:endParaRPr lang="en-GB"/>
          </a:p>
          <a:p>
            <a:pPr marL="742950" lvl="1" indent="-285750">
              <a:buFont typeface="+mj-lt"/>
              <a:buAutoNum type="arabicPeriod"/>
            </a:pPr>
            <a:r>
              <a:rPr lang="en-GB"/>
              <a:t>Using AI models to analyze purchasing behavior and flag abnormal spending patterns.</a:t>
            </a:r>
          </a:p>
          <a:p>
            <a:pPr>
              <a:buFont typeface="+mj-lt"/>
              <a:buAutoNum type="arabicPeriod"/>
            </a:pPr>
            <a:r>
              <a:rPr lang="en-GB" b="1"/>
              <a:t>E-Commerce Fraud Detection:</a:t>
            </a:r>
            <a:endParaRPr lang="en-GB"/>
          </a:p>
          <a:p>
            <a:pPr marL="742950" lvl="1" indent="-285750">
              <a:buFont typeface="+mj-lt"/>
              <a:buAutoNum type="arabicPeriod"/>
            </a:pPr>
            <a:r>
              <a:rPr lang="en-GB"/>
              <a:t>Machine learning systems to detect payment fraud, fake accounts, and chargeback abuse.</a:t>
            </a:r>
          </a:p>
          <a:p>
            <a:pPr>
              <a:buFont typeface="+mj-lt"/>
              <a:buAutoNum type="arabicPeriod"/>
            </a:pPr>
            <a:r>
              <a:rPr lang="en-GB" b="1"/>
              <a:t>Insurance Fraud Detection:</a:t>
            </a:r>
            <a:endParaRPr lang="en-GB"/>
          </a:p>
          <a:p>
            <a:pPr marL="742950" lvl="1" indent="-285750">
              <a:buFont typeface="+mj-lt"/>
              <a:buAutoNum type="arabicPeriod"/>
            </a:pPr>
            <a:r>
              <a:rPr lang="en-GB"/>
              <a:t>Automated systems flagging exaggerated claims using image recognition and pattern analysis.</a:t>
            </a:r>
          </a:p>
          <a:p>
            <a:r>
              <a:rPr lang="en-GB" b="1"/>
              <a:t>Slide 11: Benefits of Fraud Detection Systems</a:t>
            </a:r>
          </a:p>
          <a:p>
            <a:pPr>
              <a:buFont typeface="Arial" panose="020B0604020202020204" pitchFamily="34" charset="0"/>
              <a:buChar char="•"/>
            </a:pPr>
            <a:r>
              <a:rPr lang="en-GB" b="1"/>
              <a:t>Reduced Losses:</a:t>
            </a:r>
            <a:endParaRPr lang="en-GB"/>
          </a:p>
          <a:p>
            <a:pPr marL="742950" lvl="1" indent="-285750">
              <a:buFont typeface="Arial" panose="020B0604020202020204" pitchFamily="34" charset="0"/>
              <a:buChar char="•"/>
            </a:pPr>
            <a:r>
              <a:rPr lang="en-GB"/>
              <a:t>Minimize financial impact of fraud.</a:t>
            </a:r>
          </a:p>
          <a:p>
            <a:pPr>
              <a:buFont typeface="Arial" panose="020B0604020202020204" pitchFamily="34" charset="0"/>
              <a:buChar char="•"/>
            </a:pPr>
            <a:r>
              <a:rPr lang="en-GB" b="1"/>
              <a:t>Improved Accuracy:</a:t>
            </a:r>
            <a:endParaRPr lang="en-GB"/>
          </a:p>
          <a:p>
            <a:pPr marL="742950" lvl="1" indent="-285750">
              <a:buFont typeface="Arial" panose="020B0604020202020204" pitchFamily="34" charset="0"/>
              <a:buChar char="•"/>
            </a:pPr>
            <a:r>
              <a:rPr lang="en-GB"/>
              <a:t>Detects fraud in real-time with minimal human intervention.</a:t>
            </a:r>
          </a:p>
          <a:p>
            <a:pPr>
              <a:buFont typeface="Arial" panose="020B0604020202020204" pitchFamily="34" charset="0"/>
              <a:buChar char="•"/>
            </a:pPr>
            <a:r>
              <a:rPr lang="en-GB" b="1"/>
              <a:t>Enhanced Customer Trust:</a:t>
            </a:r>
            <a:endParaRPr lang="en-GB"/>
          </a:p>
          <a:p>
            <a:pPr marL="742950" lvl="1" indent="-285750">
              <a:buFont typeface="Arial" panose="020B0604020202020204" pitchFamily="34" charset="0"/>
              <a:buChar char="•"/>
            </a:pPr>
            <a:r>
              <a:rPr lang="en-GB"/>
              <a:t>Builds customer confidence by ensuring data security.</a:t>
            </a:r>
          </a:p>
          <a:p>
            <a:pPr>
              <a:buFont typeface="Arial" panose="020B0604020202020204" pitchFamily="34" charset="0"/>
              <a:buChar char="•"/>
            </a:pPr>
            <a:r>
              <a:rPr lang="en-GB" b="1"/>
              <a:t>Compliance:</a:t>
            </a:r>
            <a:endParaRPr lang="en-GB"/>
          </a:p>
          <a:p>
            <a:pPr marL="742950" lvl="1" indent="-285750">
              <a:buFont typeface="Arial" panose="020B0604020202020204" pitchFamily="34" charset="0"/>
              <a:buChar char="•"/>
            </a:pPr>
            <a:r>
              <a:rPr lang="en-GB"/>
              <a:t>Helps businesses comply with regulations like GDPR, PCI-DSS, etc.</a:t>
            </a:r>
          </a:p>
          <a:p>
            <a:r>
              <a:rPr lang="en-GB" b="1"/>
              <a:t>Slide 12: Future Trends in Fraud Detection</a:t>
            </a:r>
          </a:p>
          <a:p>
            <a:pPr>
              <a:buFont typeface="Arial" panose="020B0604020202020204" pitchFamily="34" charset="0"/>
              <a:buChar char="•"/>
            </a:pPr>
            <a:r>
              <a:rPr lang="en-GB" b="1"/>
              <a:t>AI and Deep Learning:</a:t>
            </a:r>
            <a:endParaRPr lang="en-GB"/>
          </a:p>
          <a:p>
            <a:pPr marL="742950" lvl="1" indent="-285750">
              <a:buFont typeface="Arial" panose="020B0604020202020204" pitchFamily="34" charset="0"/>
              <a:buChar char="•"/>
            </a:pPr>
            <a:r>
              <a:rPr lang="en-GB"/>
              <a:t>More sophisticated fraud detection using deep learning and neural networks.</a:t>
            </a:r>
          </a:p>
          <a:p>
            <a:pPr>
              <a:buFont typeface="Arial" panose="020B0604020202020204" pitchFamily="34" charset="0"/>
              <a:buChar char="•"/>
            </a:pPr>
            <a:r>
              <a:rPr lang="en-GB" b="1"/>
              <a:t>Blockchain for Fraud Prevention:</a:t>
            </a:r>
            <a:endParaRPr lang="en-GB"/>
          </a:p>
          <a:p>
            <a:pPr marL="742950" lvl="1" indent="-285750">
              <a:buFont typeface="Arial" panose="020B0604020202020204" pitchFamily="34" charset="0"/>
              <a:buChar char="•"/>
            </a:pPr>
            <a:r>
              <a:rPr lang="en-GB"/>
              <a:t>Immutable records for preventing fraud in transactions.</a:t>
            </a:r>
          </a:p>
          <a:p>
            <a:pPr>
              <a:buFont typeface="Arial" panose="020B0604020202020204" pitchFamily="34" charset="0"/>
              <a:buChar char="•"/>
            </a:pPr>
            <a:r>
              <a:rPr lang="en-GB" b="1"/>
              <a:t>Biometrics and Multi-Factor Authentication (MFA):</a:t>
            </a:r>
            <a:endParaRPr lang="en-GB"/>
          </a:p>
          <a:p>
            <a:pPr marL="742950" lvl="1" indent="-285750">
              <a:buFont typeface="Arial" panose="020B0604020202020204" pitchFamily="34" charset="0"/>
              <a:buChar char="•"/>
            </a:pPr>
            <a:r>
              <a:rPr lang="en-GB"/>
              <a:t>Increased adoption of biometrics and MFA for secure authentication.</a:t>
            </a:r>
          </a:p>
          <a:p>
            <a:pPr>
              <a:buFont typeface="Arial" panose="020B0604020202020204" pitchFamily="34" charset="0"/>
              <a:buChar char="•"/>
            </a:pPr>
            <a:r>
              <a:rPr lang="en-GB" b="1"/>
              <a:t>Adaptive Fraud Detection:</a:t>
            </a:r>
            <a:endParaRPr lang="en-GB"/>
          </a:p>
          <a:p>
            <a:pPr marL="742950" lvl="1" indent="-285750">
              <a:buFont typeface="Arial" panose="020B0604020202020204" pitchFamily="34" charset="0"/>
              <a:buChar char="•"/>
            </a:pPr>
            <a:r>
              <a:rPr lang="en-GB"/>
              <a:t>Systems that continuously adapt to new fraudulent behaviors and patterns.</a:t>
            </a:r>
          </a:p>
          <a:p>
            <a:r>
              <a:rPr lang="en-GB" b="1"/>
              <a:t>Slide 13: Conclusion</a:t>
            </a:r>
          </a:p>
          <a:p>
            <a:pPr>
              <a:buFont typeface="Arial" panose="020B0604020202020204" pitchFamily="34" charset="0"/>
              <a:buChar char="•"/>
            </a:pPr>
            <a:r>
              <a:rPr lang="en-GB" b="1"/>
              <a:t>Summary:</a:t>
            </a:r>
            <a:endParaRPr lang="en-GB"/>
          </a:p>
          <a:p>
            <a:pPr marL="742950" lvl="1" indent="-285750">
              <a:buFont typeface="Arial" panose="020B0604020202020204" pitchFamily="34" charset="0"/>
              <a:buChar char="•"/>
            </a:pPr>
            <a:r>
              <a:rPr lang="en-GB"/>
              <a:t>Fraud detection is a critical element of modern security and financial systems.</a:t>
            </a:r>
          </a:p>
          <a:p>
            <a:pPr marL="742950" lvl="1" indent="-285750">
              <a:buFont typeface="Arial" panose="020B0604020202020204" pitchFamily="34" charset="0"/>
              <a:buChar char="•"/>
            </a:pPr>
            <a:r>
              <a:rPr lang="en-GB"/>
              <a:t>A combination of rule-based systems, machine learning, and AI provides an effective approach to fraud prevention.</a:t>
            </a:r>
          </a:p>
          <a:p>
            <a:pPr>
              <a:buFont typeface="Arial" panose="020B0604020202020204" pitchFamily="34" charset="0"/>
              <a:buChar char="•"/>
            </a:pPr>
            <a:r>
              <a:rPr lang="en-GB" b="1"/>
              <a:t>Call to Action:</a:t>
            </a:r>
            <a:endParaRPr lang="en-GB"/>
          </a:p>
          <a:p>
            <a:pPr marL="742950" lvl="1" indent="-285750">
              <a:buFont typeface="Arial" panose="020B0604020202020204" pitchFamily="34" charset="0"/>
              <a:buChar char="•"/>
            </a:pPr>
            <a:r>
              <a:rPr lang="en-GB"/>
              <a:t>Invest in advanced fraud detection systems to protect your organization and customers.</a:t>
            </a:r>
          </a:p>
          <a:p>
            <a:pPr>
              <a:buFont typeface="Arial" panose="020B0604020202020204" pitchFamily="34" charset="0"/>
              <a:buChar char="•"/>
            </a:pPr>
            <a:r>
              <a:rPr lang="en-GB" b="1"/>
              <a:t>Thank You!</a:t>
            </a:r>
            <a:endParaRPr lang="en-GB"/>
          </a:p>
          <a:p>
            <a:pPr marL="742950" lvl="1" indent="-285750">
              <a:buFont typeface="Arial" panose="020B0604020202020204" pitchFamily="34" charset="0"/>
              <a:buChar char="•"/>
            </a:pPr>
            <a:r>
              <a:rPr lang="en-GB" b="1"/>
              <a:t>Questions?</a:t>
            </a:r>
            <a:endParaRPr lang="en-GB"/>
          </a:p>
          <a:p>
            <a:r>
              <a:rPr lang="en-GB" b="1"/>
              <a:t>Slide 14: References</a:t>
            </a:r>
          </a:p>
          <a:p>
            <a:pPr>
              <a:buFont typeface="Arial" panose="020B0604020202020204" pitchFamily="34" charset="0"/>
              <a:buChar char="•"/>
            </a:pPr>
            <a:r>
              <a:rPr lang="en-GB"/>
              <a:t>(Include any sources or references used in your presentation.)</a:t>
            </a:r>
          </a:p>
          <a:p>
            <a:r>
              <a:rPr lang="en-GB"/>
              <a:t>This structure should give you a solid foundation for building your PowerPoint presentation. You can adjust the content to match the time available and the depth of information you want to go into. Would you like more details on any specific section or some help with design suggestions for the slides?</a:t>
            </a:r>
          </a:p>
          <a:p>
            <a:r>
              <a:rPr lang="en-GB" b="1"/>
              <a:t>You said:</a:t>
            </a:r>
          </a:p>
          <a:p>
            <a:r>
              <a:rPr lang="en-GB"/>
              <a:t>Give me the presentation on topic fraud detection system for making ppt in just 8 slides</a:t>
            </a:r>
          </a:p>
          <a:p>
            <a:r>
              <a:rPr lang="en-GB" b="1"/>
              <a:t>ChatGPT said:</a:t>
            </a:r>
          </a:p>
          <a:p>
            <a:r>
              <a:rPr lang="en-GB"/>
              <a:t>ChatGPT</a:t>
            </a:r>
          </a:p>
          <a:p>
            <a:r>
              <a:rPr lang="en-GB"/>
              <a:t>Here’s a condensed version of the </a:t>
            </a:r>
            <a:r>
              <a:rPr lang="en-GB" b="1"/>
              <a:t>Fraud Detection System</a:t>
            </a:r>
            <a:r>
              <a:rPr lang="en-GB"/>
              <a:t> presentation that you can fit into just </a:t>
            </a:r>
            <a:r>
              <a:rPr lang="en-GB" b="1"/>
              <a:t>8 slides</a:t>
            </a:r>
            <a:r>
              <a:rPr lang="en-GB"/>
              <a:t>:</a:t>
            </a:r>
          </a:p>
          <a:p>
            <a:r>
              <a:rPr lang="en-GB" b="1"/>
              <a:t>Slide 1: Title Slide</a:t>
            </a:r>
          </a:p>
          <a:p>
            <a:pPr>
              <a:buFont typeface="Arial" panose="020B0604020202020204" pitchFamily="34" charset="0"/>
              <a:buChar char="•"/>
            </a:pPr>
            <a:r>
              <a:rPr lang="en-GB" b="1"/>
              <a:t>Title:</a:t>
            </a:r>
            <a:r>
              <a:rPr lang="en-GB"/>
              <a:t> Fraud Detection System</a:t>
            </a:r>
          </a:p>
          <a:p>
            <a:pPr>
              <a:buFont typeface="Arial" panose="020B0604020202020204" pitchFamily="34" charset="0"/>
              <a:buChar char="•"/>
            </a:pPr>
            <a:r>
              <a:rPr lang="en-GB" b="1"/>
              <a:t>Subtitle:</a:t>
            </a:r>
            <a:r>
              <a:rPr lang="en-GB"/>
              <a:t> Strategies for Identifying and Preventing Fraud</a:t>
            </a:r>
          </a:p>
          <a:p>
            <a:pPr>
              <a:buFont typeface="Arial" panose="020B0604020202020204" pitchFamily="34" charset="0"/>
              <a:buChar char="•"/>
            </a:pPr>
            <a:r>
              <a:rPr lang="en-GB" b="1"/>
              <a:t>Your Name</a:t>
            </a:r>
            <a:endParaRPr lang="en-GB"/>
          </a:p>
          <a:p>
            <a:pPr>
              <a:buFont typeface="Arial" panose="020B0604020202020204" pitchFamily="34" charset="0"/>
              <a:buChar char="•"/>
            </a:pPr>
            <a:r>
              <a:rPr lang="en-GB" b="1"/>
              <a:t>Date</a:t>
            </a:r>
            <a:endParaRPr lang="en-GB"/>
          </a:p>
          <a:p>
            <a:r>
              <a:rPr lang="en-GB" b="1"/>
              <a:t>Slide 2: What is Fraud Detection?</a:t>
            </a:r>
          </a:p>
          <a:p>
            <a:pPr>
              <a:buFont typeface="Arial" panose="020B0604020202020204" pitchFamily="34" charset="0"/>
              <a:buChar char="•"/>
            </a:pPr>
            <a:r>
              <a:rPr lang="en-GB" b="1"/>
              <a:t>Definition:</a:t>
            </a:r>
            <a:endParaRPr lang="en-GB"/>
          </a:p>
          <a:p>
            <a:pPr marL="742950" lvl="1" indent="-285750">
              <a:buFont typeface="Arial" panose="020B0604020202020204" pitchFamily="34" charset="0"/>
              <a:buChar char="•"/>
            </a:pPr>
            <a:r>
              <a:rPr lang="en-GB"/>
              <a:t>Fraud detection refers to identifying fraudulent activities or behaviors in financial transactions, accounts, or systems.</a:t>
            </a:r>
          </a:p>
          <a:p>
            <a:pPr>
              <a:buFont typeface="Arial" panose="020B0604020202020204" pitchFamily="34" charset="0"/>
              <a:buChar char="•"/>
            </a:pPr>
            <a:r>
              <a:rPr lang="en-GB" b="1"/>
              <a:t>Importance:</a:t>
            </a:r>
            <a:endParaRPr lang="en-GB"/>
          </a:p>
          <a:p>
            <a:pPr marL="742950" lvl="1" indent="-285750">
              <a:buFont typeface="Arial" panose="020B0604020202020204" pitchFamily="34" charset="0"/>
              <a:buChar char="•"/>
            </a:pPr>
            <a:r>
              <a:rPr lang="en-GB"/>
              <a:t>Prevents financial losses, safeguards customer trust, and ensures compliance with regulations.</a:t>
            </a:r>
          </a:p>
          <a:p>
            <a:r>
              <a:rPr lang="en-GB" b="1"/>
              <a:t>Slide 3: Types of Fraud</a:t>
            </a:r>
          </a:p>
          <a:p>
            <a:pPr>
              <a:buFont typeface="Arial" panose="020B0604020202020204" pitchFamily="34" charset="0"/>
              <a:buChar char="•"/>
            </a:pPr>
            <a:r>
              <a:rPr lang="en-GB" b="1"/>
              <a:t>Financial Fraud:</a:t>
            </a:r>
            <a:r>
              <a:rPr lang="en-GB"/>
              <a:t> Credit card fraud, identity theft.</a:t>
            </a:r>
          </a:p>
          <a:p>
            <a:pPr>
              <a:buFont typeface="Arial" panose="020B0604020202020204" pitchFamily="34" charset="0"/>
              <a:buChar char="•"/>
            </a:pPr>
            <a:r>
              <a:rPr lang="en-GB" b="1"/>
              <a:t>Online Fraud:</a:t>
            </a:r>
            <a:r>
              <a:rPr lang="en-GB"/>
              <a:t> Phishing, e-commerce fraud.</a:t>
            </a:r>
          </a:p>
          <a:p>
            <a:pPr>
              <a:buFont typeface="Arial" panose="020B0604020202020204" pitchFamily="34" charset="0"/>
              <a:buChar char="•"/>
            </a:pPr>
            <a:r>
              <a:rPr lang="en-GB" b="1"/>
              <a:t>Insurance Fraud:</a:t>
            </a:r>
            <a:r>
              <a:rPr lang="en-GB"/>
              <a:t> False claims, exaggerated damages.</a:t>
            </a:r>
          </a:p>
          <a:p>
            <a:r>
              <a:rPr lang="en-GB" b="1"/>
              <a:t>Slide 4: Key Challenges in Fraud Detection</a:t>
            </a:r>
          </a:p>
          <a:p>
            <a:pPr>
              <a:buFont typeface="Arial" panose="020B0604020202020204" pitchFamily="34" charset="0"/>
              <a:buChar char="•"/>
            </a:pPr>
            <a:r>
              <a:rPr lang="en-GB" b="1"/>
              <a:t>Evolving Fraud Tactics:</a:t>
            </a:r>
            <a:r>
              <a:rPr lang="en-GB"/>
              <a:t> Fraudsters adapt to avoid detection.</a:t>
            </a:r>
          </a:p>
          <a:p>
            <a:pPr>
              <a:buFont typeface="Arial" panose="020B0604020202020204" pitchFamily="34" charset="0"/>
              <a:buChar char="•"/>
            </a:pPr>
            <a:r>
              <a:rPr lang="en-GB" b="1"/>
              <a:t>Data Overload:</a:t>
            </a:r>
            <a:r>
              <a:rPr lang="en-GB"/>
              <a:t> Huge volume of data to analyze in real-time.</a:t>
            </a:r>
          </a:p>
          <a:p>
            <a:pPr>
              <a:buFont typeface="Arial" panose="020B0604020202020204" pitchFamily="34" charset="0"/>
              <a:buChar char="•"/>
            </a:pPr>
            <a:r>
              <a:rPr lang="en-GB" b="1"/>
              <a:t>False Positives:</a:t>
            </a:r>
            <a:r>
              <a:rPr lang="en-GB"/>
              <a:t> Correct transactions incorrectly flagged as fraud.</a:t>
            </a:r>
          </a:p>
          <a:p>
            <a:pPr>
              <a:buFont typeface="Arial" panose="020B0604020202020204" pitchFamily="34" charset="0"/>
              <a:buChar char="•"/>
            </a:pPr>
            <a:r>
              <a:rPr lang="en-GB" b="1"/>
              <a:t>High Costs:</a:t>
            </a:r>
            <a:r>
              <a:rPr lang="en-GB"/>
              <a:t> Implementing sophisticated fraud detection systems can be expensive.</a:t>
            </a:r>
          </a:p>
          <a:p>
            <a:r>
              <a:rPr lang="en-GB" b="1"/>
              <a:t>Slide 5: Fraud Detection Techniques</a:t>
            </a:r>
          </a:p>
          <a:p>
            <a:pPr>
              <a:buFont typeface="+mj-lt"/>
              <a:buAutoNum type="arabicPeriod"/>
            </a:pPr>
            <a:r>
              <a:rPr lang="en-GB" b="1"/>
              <a:t>Rule-Based Systems:</a:t>
            </a:r>
            <a:r>
              <a:rPr lang="en-GB"/>
              <a:t> Flagging based on predefined rules (e.g., large transactions).</a:t>
            </a:r>
          </a:p>
          <a:p>
            <a:pPr>
              <a:buFont typeface="+mj-lt"/>
              <a:buAutoNum type="arabicPeriod"/>
            </a:pPr>
            <a:r>
              <a:rPr lang="en-GB" b="1"/>
              <a:t>Machine Learning:</a:t>
            </a:r>
            <a:r>
              <a:rPr lang="en-GB"/>
              <a:t> Predictive models that learn from historical data.</a:t>
            </a:r>
          </a:p>
          <a:p>
            <a:pPr>
              <a:buFont typeface="+mj-lt"/>
              <a:buAutoNum type="arabicPeriod"/>
            </a:pPr>
            <a:r>
              <a:rPr lang="en-GB" b="1"/>
              <a:t>Data Analytics:</a:t>
            </a:r>
            <a:r>
              <a:rPr lang="en-GB"/>
              <a:t> Identifying anomalies and patterns using statistical techniques.</a:t>
            </a:r>
          </a:p>
          <a:p>
            <a:r>
              <a:rPr lang="en-GB" b="1"/>
              <a:t>Slide 6: Machine Learning in Fraud Detection</a:t>
            </a:r>
          </a:p>
          <a:p>
            <a:pPr>
              <a:buFont typeface="Arial" panose="020B0604020202020204" pitchFamily="34" charset="0"/>
              <a:buChar char="•"/>
            </a:pPr>
            <a:r>
              <a:rPr lang="en-GB" b="1"/>
              <a:t>Supervised Learning:</a:t>
            </a:r>
            <a:r>
              <a:rPr lang="en-GB"/>
              <a:t> Classifies fraud vs. non-fraud based on labeled data.</a:t>
            </a:r>
          </a:p>
          <a:p>
            <a:pPr>
              <a:buFont typeface="Arial" panose="020B0604020202020204" pitchFamily="34" charset="0"/>
              <a:buChar char="•"/>
            </a:pPr>
            <a:r>
              <a:rPr lang="en-GB" b="1"/>
              <a:t>Unsupervised Learning:</a:t>
            </a:r>
            <a:r>
              <a:rPr lang="en-GB"/>
              <a:t> Detects new or unknown fraud patterns.</a:t>
            </a:r>
          </a:p>
          <a:p>
            <a:pPr>
              <a:buFont typeface="Arial" panose="020B0604020202020204" pitchFamily="34" charset="0"/>
              <a:buChar char="•"/>
            </a:pPr>
            <a:r>
              <a:rPr lang="en-GB" b="1"/>
              <a:t>Popular Algorithms:</a:t>
            </a:r>
            <a:r>
              <a:rPr lang="en-GB"/>
              <a:t> Decision Trees, Random Forest, Neural Networks.</a:t>
            </a:r>
          </a:p>
          <a:p>
            <a:r>
              <a:rPr lang="en-GB" b="1"/>
              <a:t>Slide 7: Real-Time vs. Batch Processing</a:t>
            </a:r>
          </a:p>
          <a:p>
            <a:pPr>
              <a:buFont typeface="Arial" panose="020B0604020202020204" pitchFamily="34" charset="0"/>
              <a:buChar char="•"/>
            </a:pPr>
            <a:r>
              <a:rPr lang="en-GB" b="1"/>
              <a:t>Real-Time Detection:</a:t>
            </a:r>
            <a:r>
              <a:rPr lang="en-GB"/>
              <a:t> Analyzes transactions immediately (e.g., credit card transactions).</a:t>
            </a:r>
          </a:p>
          <a:p>
            <a:pPr>
              <a:buFont typeface="Arial" panose="020B0604020202020204" pitchFamily="34" charset="0"/>
              <a:buChar char="•"/>
            </a:pPr>
            <a:r>
              <a:rPr lang="en-GB" b="1"/>
              <a:t>Batch Processing:</a:t>
            </a:r>
            <a:r>
              <a:rPr lang="en-GB"/>
              <a:t> Analyzes data periodically (e.g., daily fraud audits).</a:t>
            </a:r>
          </a:p>
          <a:p>
            <a:r>
              <a:rPr lang="en-GB" b="1"/>
              <a:t>Slide 8: Conclusion &amp; Benefits</a:t>
            </a:r>
          </a:p>
          <a:p>
            <a:pPr>
              <a:buFont typeface="Arial" panose="020B0604020202020204" pitchFamily="34" charset="0"/>
              <a:buChar char="•"/>
            </a:pPr>
            <a:r>
              <a:rPr lang="en-GB" b="1"/>
              <a:t>Summary:</a:t>
            </a:r>
            <a:endParaRPr lang="en-GB"/>
          </a:p>
          <a:p>
            <a:pPr marL="742950" lvl="1" indent="-285750">
              <a:buFont typeface="Arial" panose="020B0604020202020204" pitchFamily="34" charset="0"/>
              <a:buChar char="•"/>
            </a:pPr>
            <a:r>
              <a:rPr lang="en-GB"/>
              <a:t>Fraud detection uses a combination of rule-based systems, machine learning, and real-time monitoring.</a:t>
            </a:r>
          </a:p>
          <a:p>
            <a:pPr>
              <a:buFont typeface="Arial" panose="020B0604020202020204" pitchFamily="34" charset="0"/>
              <a:buChar char="•"/>
            </a:pPr>
            <a:r>
              <a:rPr lang="en-GB" b="1"/>
              <a:t>Benefits:</a:t>
            </a:r>
            <a:endParaRPr lang="en-GB"/>
          </a:p>
          <a:p>
            <a:pPr marL="742950" lvl="1" indent="-285750">
              <a:buFont typeface="Arial" panose="020B0604020202020204" pitchFamily="34" charset="0"/>
              <a:buChar char="•"/>
            </a:pPr>
            <a:r>
              <a:rPr lang="en-GB"/>
              <a:t>Reduced losses, improved accuracy, and enhanced customer trust.</a:t>
            </a:r>
          </a:p>
          <a:p>
            <a:pPr>
              <a:buFont typeface="Arial" panose="020B0604020202020204" pitchFamily="34" charset="0"/>
              <a:buChar char="•"/>
            </a:pPr>
            <a:r>
              <a:rPr lang="en-GB" b="1"/>
              <a:t>Next Steps:</a:t>
            </a:r>
            <a:endParaRPr lang="en-GB"/>
          </a:p>
          <a:p>
            <a:pPr marL="742950" lvl="1" indent="-285750">
              <a:buFont typeface="Arial" panose="020B0604020202020204" pitchFamily="34" charset="0"/>
              <a:buChar char="•"/>
            </a:pPr>
            <a:r>
              <a:rPr lang="en-GB"/>
              <a:t>Implement fraud detection systems tailored to your organization’s needs.</a:t>
            </a:r>
          </a:p>
          <a:p>
            <a:r>
              <a:rPr lang="en-GB"/>
              <a:t>This format will keep your presentation concise and to the point while still covering the essential aspects of fraud detection. Let me know if you need help with slide design or content!</a:t>
            </a:r>
          </a:p>
          <a:p>
            <a:r>
              <a:rPr lang="en-GB" b="1"/>
              <a:t>You said:</a:t>
            </a:r>
          </a:p>
          <a:p>
            <a:r>
              <a:rPr lang="en-GB"/>
              <a:t>Expand slide 2 bullet points </a:t>
            </a:r>
          </a:p>
          <a:p>
            <a:r>
              <a:rPr lang="en-GB" b="1"/>
              <a:t>ChatGPT said:</a:t>
            </a:r>
          </a:p>
          <a:p>
            <a:r>
              <a:rPr lang="en-GB"/>
              <a:t>ChatGPT</a:t>
            </a:r>
          </a:p>
          <a:p>
            <a:r>
              <a:rPr lang="en-GB"/>
              <a:t>Here’s an expanded version of </a:t>
            </a:r>
            <a:r>
              <a:rPr lang="en-GB" b="1"/>
              <a:t>Slide 2: What is Fraud Detection?</a:t>
            </a:r>
            <a:r>
              <a:rPr lang="en-GB"/>
              <a:t> with more detailed bullet points:</a:t>
            </a:r>
          </a:p>
          <a:p>
            <a:r>
              <a:rPr lang="en-GB" b="1"/>
              <a:t>Slide 2: What is Fraud Detection?</a:t>
            </a:r>
          </a:p>
          <a:p>
            <a:pPr>
              <a:buFont typeface="Arial" panose="020B0604020202020204" pitchFamily="34" charset="0"/>
              <a:buChar char="•"/>
            </a:pPr>
            <a:r>
              <a:rPr lang="en-GB" b="1"/>
              <a:t>Definition of Fraud Detection:</a:t>
            </a:r>
            <a:endParaRPr lang="en-GB"/>
          </a:p>
          <a:p>
            <a:pPr marL="742950" lvl="1" indent="-285750">
              <a:buFont typeface="Arial" panose="020B0604020202020204" pitchFamily="34" charset="0"/>
              <a:buChar char="•"/>
            </a:pPr>
            <a:r>
              <a:rPr lang="en-GB" b="1"/>
              <a:t>Fraud detection</a:t>
            </a:r>
            <a:r>
              <a:rPr lang="en-GB"/>
              <a:t> involves identifying suspicious or fraudulent activities in financial transactions, user behaviors, or systems that could lead to unauthorized financial loss, security breaches, or data theft.</a:t>
            </a:r>
          </a:p>
          <a:p>
            <a:pPr marL="742950" lvl="1" indent="-285750">
              <a:buFont typeface="Arial" panose="020B0604020202020204" pitchFamily="34" charset="0"/>
              <a:buChar char="•"/>
            </a:pPr>
            <a:r>
              <a:rPr lang="en-GB"/>
              <a:t>The process uses various methods, including statistical analysis, machine learning, pattern recognition, and behavior tracking, to detect anomalies and prevent fraudulent actions before they cause harm.</a:t>
            </a:r>
          </a:p>
          <a:p>
            <a:pPr>
              <a:buFont typeface="Arial" panose="020B0604020202020204" pitchFamily="34" charset="0"/>
              <a:buChar char="•"/>
            </a:pPr>
            <a:r>
              <a:rPr lang="en-GB" b="1"/>
              <a:t>Importance of Fraud Detection:</a:t>
            </a:r>
            <a:endParaRPr lang="en-GB"/>
          </a:p>
          <a:p>
            <a:pPr marL="742950" lvl="1" indent="-285750">
              <a:buFont typeface="Arial" panose="020B0604020202020204" pitchFamily="34" charset="0"/>
              <a:buChar char="•"/>
            </a:pPr>
            <a:r>
              <a:rPr lang="en-GB" b="1"/>
              <a:t>Financial Protection:</a:t>
            </a:r>
            <a:r>
              <a:rPr lang="en-GB"/>
              <a:t> Fraud detection is crucial for minimizing the risk of financial loss, whether from identity theft, unauthorized transactions, or false claims. This helps businesses protect their assets and ensure the safety of their financial operations.</a:t>
            </a:r>
          </a:p>
          <a:p>
            <a:pPr marL="742950" lvl="1" indent="-285750">
              <a:buFont typeface="Arial" panose="020B0604020202020204" pitchFamily="34" charset="0"/>
              <a:buChar char="•"/>
            </a:pPr>
            <a:r>
              <a:rPr lang="en-GB" b="1"/>
              <a:t>Customer Trust:</a:t>
            </a:r>
            <a:r>
              <a:rPr lang="en-GB"/>
              <a:t> Customers trust businesses to protect their personal and financial data. Effective fraud detection systems help maintain customer confidence by ensuring that their information is secure and preventing any damage to their reputation.</a:t>
            </a:r>
          </a:p>
          <a:p>
            <a:pPr marL="742950" lvl="1" indent="-285750">
              <a:buFont typeface="Arial" panose="020B0604020202020204" pitchFamily="34" charset="0"/>
              <a:buChar char="•"/>
            </a:pPr>
            <a:r>
              <a:rPr lang="en-GB" b="1"/>
              <a:t>Compliance &amp; Legal Requirements:</a:t>
            </a:r>
            <a:r>
              <a:rPr lang="en-GB"/>
              <a:t> Many industries, particularly finance and insurance, have strict regulatory standards (e.g., GDPR, PCI-DSS) that require businesses to implement fraud detection systems. Non-compliance can lead to hefty fines or legal repercussions.</a:t>
            </a:r>
          </a:p>
          <a:p>
            <a:pPr marL="742950" lvl="1" indent="-285750">
              <a:buFont typeface="Arial" panose="020B0604020202020204" pitchFamily="34" charset="0"/>
              <a:buChar char="•"/>
            </a:pPr>
            <a:r>
              <a:rPr lang="en-GB" b="1"/>
              <a:t>Operational Efficiency:</a:t>
            </a:r>
            <a:r>
              <a:rPr lang="en-GB"/>
              <a:t> By catching fraud early, businesses can streamline their operations, reduce investigation and recovery time, and improve overall efficiency by focusing resources on legitimate transactions.</a:t>
            </a:r>
          </a:p>
          <a:p>
            <a:r>
              <a:rPr lang="en-GB"/>
              <a:t>This expanded version provides a clear and detailed understanding of what fraud detection is and why it’s critical for organizations. Would you like me to help with other slides?</a:t>
            </a:r>
          </a:p>
          <a:p>
            <a:r>
              <a:rPr lang="en-GB" b="1"/>
              <a:t>You said:</a:t>
            </a:r>
          </a:p>
          <a:p>
            <a:r>
              <a:rPr lang="en-GB"/>
              <a:t>Expand slide 5 bullet points </a:t>
            </a:r>
          </a:p>
          <a:p>
            <a:r>
              <a:rPr lang="en-GB" b="1"/>
              <a:t>ChatGPT said:</a:t>
            </a:r>
          </a:p>
          <a:p>
            <a:r>
              <a:rPr lang="en-GB"/>
              <a:t>ChatGPT</a:t>
            </a:r>
          </a:p>
          <a:p>
            <a:r>
              <a:rPr lang="en-GB"/>
              <a:t>Here’s an expanded version of </a:t>
            </a:r>
            <a:r>
              <a:rPr lang="en-GB" b="1"/>
              <a:t>Slide 5: Fraud Detection Techniques</a:t>
            </a:r>
            <a:r>
              <a:rPr lang="en-GB"/>
              <a:t> with more detailed bullet points:</a:t>
            </a:r>
          </a:p>
          <a:p>
            <a:r>
              <a:rPr lang="en-GB" b="1"/>
              <a:t>Slide 5: Fraud Detection Techniques</a:t>
            </a:r>
          </a:p>
          <a:p>
            <a:pPr>
              <a:buFont typeface="+mj-lt"/>
              <a:buAutoNum type="arabicPeriod"/>
            </a:pPr>
            <a:r>
              <a:rPr lang="en-GB" b="1"/>
              <a:t>Rule-Based Systems:</a:t>
            </a:r>
            <a:endParaRPr lang="en-GB"/>
          </a:p>
          <a:p>
            <a:pPr marL="742950" lvl="1" indent="-285750">
              <a:buFont typeface="+mj-lt"/>
              <a:buAutoNum type="arabicPeriod"/>
            </a:pPr>
            <a:r>
              <a:rPr lang="en-GB" b="1"/>
              <a:t>Definition:</a:t>
            </a:r>
            <a:r>
              <a:rPr lang="en-GB"/>
              <a:t> Rule-based fraud detection uses predefined sets of conditions or rules to identify suspicious activities. These rules are designed based on known patterns of fraud, such as large transactions, repeated attempts to log into an account, or unusual purchasing behavior.</a:t>
            </a:r>
          </a:p>
          <a:p>
            <a:pPr marL="742950" lvl="1" indent="-285750">
              <a:buFont typeface="+mj-lt"/>
              <a:buAutoNum type="arabicPeriod"/>
            </a:pPr>
            <a:r>
              <a:rPr lang="en-GB" b="1"/>
              <a:t>How It Works:</a:t>
            </a:r>
            <a:r>
              <a:rPr lang="en-GB"/>
              <a:t> The system flags any transaction or activity that meets certain criteria, like exceeding a set amount or occurring at an unusual time. For example, a rule might flag transactions greater than $500 in a single purchase, or login attempts from foreign IP addresses.</a:t>
            </a:r>
          </a:p>
          <a:p>
            <a:pPr marL="742950" lvl="1" indent="-285750">
              <a:buFont typeface="+mj-lt"/>
              <a:buAutoNum type="arabicPeriod"/>
            </a:pPr>
            <a:r>
              <a:rPr lang="en-GB" b="1"/>
              <a:t>Pros:</a:t>
            </a:r>
            <a:endParaRPr lang="en-GB"/>
          </a:p>
          <a:p>
            <a:pPr marL="1143000" lvl="2" indent="-228600">
              <a:buFont typeface="+mj-lt"/>
              <a:buAutoNum type="arabicPeriod"/>
            </a:pPr>
            <a:r>
              <a:rPr lang="en-GB"/>
              <a:t>Simple to implement and interpret.</a:t>
            </a:r>
          </a:p>
          <a:p>
            <a:pPr marL="1143000" lvl="2" indent="-228600">
              <a:buFont typeface="+mj-lt"/>
              <a:buAutoNum type="arabicPeriod"/>
            </a:pPr>
            <a:r>
              <a:rPr lang="en-GB"/>
              <a:t>Works well for identifying common, known fraud patterns.</a:t>
            </a:r>
          </a:p>
          <a:p>
            <a:pPr marL="742950" lvl="1" indent="-285750">
              <a:buFont typeface="+mj-lt"/>
              <a:buAutoNum type="arabicPeriod"/>
            </a:pPr>
            <a:r>
              <a:rPr lang="en-GB" b="1"/>
              <a:t>Cons:</a:t>
            </a:r>
            <a:endParaRPr lang="en-GB"/>
          </a:p>
          <a:p>
            <a:pPr marL="1143000" lvl="2" indent="-228600">
              <a:buFont typeface="+mj-lt"/>
              <a:buAutoNum type="arabicPeriod"/>
            </a:pPr>
            <a:r>
              <a:rPr lang="en-GB"/>
              <a:t>Can lead to high false positives (legitimate transactions being flagged).</a:t>
            </a:r>
          </a:p>
          <a:p>
            <a:pPr marL="1143000" lvl="2" indent="-228600">
              <a:buFont typeface="+mj-lt"/>
              <a:buAutoNum type="arabicPeriod"/>
            </a:pPr>
            <a:r>
              <a:rPr lang="en-GB"/>
              <a:t>Less effective at detecting novel or evolving fraud schemes.</a:t>
            </a:r>
          </a:p>
          <a:p>
            <a:pPr>
              <a:buFont typeface="+mj-lt"/>
              <a:buAutoNum type="arabicPeriod"/>
            </a:pPr>
            <a:r>
              <a:rPr lang="en-GB" b="1"/>
              <a:t>Machine Learning:</a:t>
            </a:r>
            <a:endParaRPr lang="en-GB"/>
          </a:p>
          <a:p>
            <a:pPr marL="742950" lvl="1" indent="-285750">
              <a:buFont typeface="+mj-lt"/>
              <a:buAutoNum type="arabicPeriod"/>
            </a:pPr>
            <a:r>
              <a:rPr lang="en-GB" b="1"/>
              <a:t>Definition:</a:t>
            </a:r>
            <a:r>
              <a:rPr lang="en-GB"/>
              <a:t> Machine learning (ML) fraud detection uses algorithms to analyze historical data and learn patterns that indicate fraud. These algorithms continuously improve as they are exposed to more data, making them more effective over time.</a:t>
            </a:r>
          </a:p>
          <a:p>
            <a:pPr marL="742950" lvl="1" indent="-285750">
              <a:buFont typeface="+mj-lt"/>
              <a:buAutoNum type="arabicPeriod"/>
            </a:pPr>
            <a:r>
              <a:rPr lang="en-GB" b="1"/>
              <a:t>How It Works:</a:t>
            </a:r>
            <a:r>
              <a:rPr lang="en-GB"/>
              <a:t> By training on labeled datasets (e.g., past transactions marked as fraud or legitimate), machine learning models can predict the likelihood of fraud in real-time based on new input data. Common techniques include classification (fraud vs. non-fraud) and anomaly detection.</a:t>
            </a:r>
          </a:p>
          <a:p>
            <a:pPr marL="742950" lvl="1" indent="-285750">
              <a:buFont typeface="+mj-lt"/>
              <a:buAutoNum type="arabicPeriod"/>
            </a:pPr>
            <a:r>
              <a:rPr lang="en-GB" b="1"/>
              <a:t>Pros:</a:t>
            </a:r>
            <a:endParaRPr lang="en-GB"/>
          </a:p>
          <a:p>
            <a:pPr marL="1143000" lvl="2" indent="-228600">
              <a:buFont typeface="+mj-lt"/>
              <a:buAutoNum type="arabicPeriod"/>
            </a:pPr>
            <a:r>
              <a:rPr lang="en-GB"/>
              <a:t>Can detect subtle, complex fraud patterns that rule-based systems might miss.</a:t>
            </a:r>
          </a:p>
          <a:p>
            <a:pPr marL="1143000" lvl="2" indent="-228600">
              <a:buFont typeface="+mj-lt"/>
              <a:buAutoNum type="arabicPeriod"/>
            </a:pPr>
            <a:r>
              <a:rPr lang="en-GB"/>
              <a:t>Continuously improves as more data is processed, increasing accuracy over time.</a:t>
            </a:r>
          </a:p>
          <a:p>
            <a:pPr marL="742950" lvl="1" indent="-285750">
              <a:buFont typeface="+mj-lt"/>
              <a:buAutoNum type="arabicPeriod"/>
            </a:pPr>
            <a:r>
              <a:rPr lang="en-GB" b="1"/>
              <a:t>Cons:</a:t>
            </a:r>
            <a:endParaRPr lang="en-GB"/>
          </a:p>
          <a:p>
            <a:pPr marL="1143000" lvl="2" indent="-228600">
              <a:buFont typeface="+mj-lt"/>
              <a:buAutoNum type="arabicPeriod"/>
            </a:pPr>
            <a:r>
              <a:rPr lang="en-GB"/>
              <a:t>Requires significant computational resources and expertise to set up.</a:t>
            </a:r>
          </a:p>
          <a:p>
            <a:pPr marL="1143000" lvl="2" indent="-228600">
              <a:buFont typeface="+mj-lt"/>
              <a:buAutoNum type="arabicPeriod"/>
            </a:pPr>
            <a:r>
              <a:rPr lang="en-GB"/>
              <a:t>Needs large datasets for training, which may not always be available.</a:t>
            </a:r>
          </a:p>
          <a:p>
            <a:pPr>
              <a:buFont typeface="+mj-lt"/>
              <a:buAutoNum type="arabicPeriod"/>
            </a:pPr>
            <a:r>
              <a:rPr lang="en-GB" b="1"/>
              <a:t>Data Analytics:</a:t>
            </a:r>
            <a:endParaRPr lang="en-GB"/>
          </a:p>
          <a:p>
            <a:pPr marL="742950" lvl="1" indent="-285750">
              <a:buFont typeface="+mj-lt"/>
              <a:buAutoNum type="arabicPeriod"/>
            </a:pPr>
            <a:r>
              <a:rPr lang="en-GB" b="1"/>
              <a:t>Definition:</a:t>
            </a:r>
            <a:r>
              <a:rPr lang="en-GB"/>
              <a:t> Data analytics in fraud detection involves analyzing large datasets to uncover hidden patterns, anomalies, or outliers that may indicate fraudulent activities. This can involve statistical analysis, clustering, and visualizations to identify trends.</a:t>
            </a:r>
          </a:p>
          <a:p>
            <a:pPr marL="742950" lvl="1" indent="-285750">
              <a:buFont typeface="+mj-lt"/>
              <a:buAutoNum type="arabicPeriod"/>
            </a:pPr>
            <a:r>
              <a:rPr lang="en-GB" b="1"/>
              <a:t>How It Works:</a:t>
            </a:r>
            <a:r>
              <a:rPr lang="en-GB"/>
              <a:t> Analysts use techniques like regression analysis, clustering (grouping similar data points), and outlier detection to identify behaviors that deviate from the norm. For example, analyzing spending habits and flagging transactions that differ significantly from a user's usual behavior.</a:t>
            </a:r>
          </a:p>
          <a:p>
            <a:pPr marL="742950" lvl="1" indent="-285750">
              <a:buFont typeface="+mj-lt"/>
              <a:buAutoNum type="arabicPeriod"/>
            </a:pPr>
            <a:r>
              <a:rPr lang="en-GB" b="1"/>
              <a:t>Pros:</a:t>
            </a:r>
            <a:endParaRPr lang="en-GB"/>
          </a:p>
          <a:p>
            <a:pPr marL="1143000" lvl="2" indent="-228600">
              <a:buFont typeface="+mj-lt"/>
              <a:buAutoNum type="arabicPeriod"/>
            </a:pPr>
            <a:r>
              <a:rPr lang="en-GB"/>
              <a:t>Provides valuable insights and deep understanding of fraud patterns.</a:t>
            </a:r>
          </a:p>
          <a:p>
            <a:pPr marL="1143000" lvl="2" indent="-228600">
              <a:buFont typeface="+mj-lt"/>
              <a:buAutoNum type="arabicPeriod"/>
            </a:pPr>
            <a:r>
              <a:rPr lang="en-GB"/>
              <a:t>Can identify trends and anomalies not easily detected by traditional methods.</a:t>
            </a:r>
          </a:p>
          <a:p>
            <a:pPr marL="742950" lvl="1" indent="-285750">
              <a:buFont typeface="+mj-lt"/>
              <a:buAutoNum type="arabicPeriod"/>
            </a:pPr>
            <a:r>
              <a:rPr lang="en-GB" b="1"/>
              <a:t>Cons:</a:t>
            </a:r>
            <a:endParaRPr lang="en-GB"/>
          </a:p>
          <a:p>
            <a:pPr marL="1143000" lvl="2" indent="-228600">
              <a:buFont typeface="+mj-lt"/>
              <a:buAutoNum type="arabicPeriod"/>
            </a:pPr>
            <a:r>
              <a:rPr lang="en-GB"/>
              <a:t>Requires skilled data analysts and knowledge of statistical methods.</a:t>
            </a:r>
          </a:p>
          <a:p>
            <a:pPr marL="1143000" lvl="2" indent="-228600">
              <a:buFont typeface="+mj-lt"/>
              <a:buAutoNum type="arabicPeriod"/>
            </a:pPr>
            <a:r>
              <a:rPr lang="en-GB"/>
              <a:t>Can be resource-intensive, especially when processing large amounts of data.</a:t>
            </a:r>
          </a:p>
          <a:p>
            <a:r>
              <a:rPr lang="en-GB"/>
              <a:t>This expanded version gives a more in-depth look at each fraud detection technique and how they work. It also highlights the pros and cons of each method, giving the audience a more comprehensive understanding. Would you like to dive deeper into any of these techniques or need further expansion for another slide?</a:t>
            </a:r>
          </a:p>
          <a:p>
            <a:r>
              <a:rPr lang="en-GB" b="1"/>
              <a:t>You said:</a:t>
            </a:r>
          </a:p>
          <a:p>
            <a:r>
              <a:rPr lang="en-GB"/>
              <a:t>Expand slide 4 bullet points </a:t>
            </a:r>
          </a:p>
          <a:p>
            <a:r>
              <a:rPr lang="en-GB" b="1"/>
              <a:t>ChatGPT said:</a:t>
            </a:r>
          </a:p>
          <a:p>
            <a:r>
              <a:rPr lang="en-GB"/>
              <a:t>ChatGPT</a:t>
            </a:r>
          </a:p>
          <a:p>
            <a:r>
              <a:rPr lang="en-GB"/>
              <a:t>Here’s an expanded version of </a:t>
            </a:r>
            <a:r>
              <a:rPr lang="en-GB" b="1"/>
              <a:t>Slide 4: Key Challenges in Fraud Detection</a:t>
            </a:r>
            <a:r>
              <a:rPr lang="en-GB"/>
              <a:t> with more detailed bullet points:</a:t>
            </a:r>
          </a:p>
          <a:p>
            <a:r>
              <a:rPr lang="en-GB" b="1"/>
              <a:t>Slide 4: Key Challenges in Fraud Detection</a:t>
            </a:r>
          </a:p>
          <a:p>
            <a:pPr>
              <a:buFont typeface="+mj-lt"/>
              <a:buAutoNum type="arabicPeriod"/>
            </a:pPr>
            <a:r>
              <a:rPr lang="en-GB" b="1"/>
              <a:t>Evolving Fraud Tactics:</a:t>
            </a:r>
            <a:endParaRPr lang="en-GB"/>
          </a:p>
          <a:p>
            <a:pPr marL="742950" lvl="1" indent="-285750">
              <a:buFont typeface="+mj-lt"/>
              <a:buAutoNum type="arabicPeriod"/>
            </a:pPr>
            <a:r>
              <a:rPr lang="en-GB" b="1"/>
              <a:t>Description:</a:t>
            </a:r>
            <a:r>
              <a:rPr lang="en-GB"/>
              <a:t> Fraudsters constantly adapt their methods to outsmart detection systems. As technology advances, so do the tactics used by criminals to exploit vulnerabilities.</a:t>
            </a:r>
          </a:p>
          <a:p>
            <a:pPr marL="742950" lvl="1" indent="-285750">
              <a:buFont typeface="+mj-lt"/>
              <a:buAutoNum type="arabicPeriod"/>
            </a:pPr>
            <a:r>
              <a:rPr lang="en-GB" b="1"/>
              <a:t>Example:</a:t>
            </a:r>
            <a:r>
              <a:rPr lang="en-GB"/>
              <a:t> Fraudsters may use more sophisticated phishing schemes, fake identities, or “man-in-the-middle” attacks to bypass traditional security measures. They may also mimic legitimate user behavior, making it harder for systems to differentiate between fraud and legitimate actions.</a:t>
            </a:r>
          </a:p>
          <a:p>
            <a:pPr marL="742950" lvl="1" indent="-285750">
              <a:buFont typeface="+mj-lt"/>
              <a:buAutoNum type="arabicPeriod"/>
            </a:pPr>
            <a:r>
              <a:rPr lang="en-GB" b="1"/>
              <a:t>Impact:</a:t>
            </a:r>
            <a:r>
              <a:rPr lang="en-GB"/>
              <a:t> Fraud detection systems must be regularly updated to keep pace with new fraud trends. Without ongoing improvements, systems may fail to detect newer, more advanced forms of fraud.</a:t>
            </a:r>
          </a:p>
          <a:p>
            <a:pPr>
              <a:buFont typeface="+mj-lt"/>
              <a:buAutoNum type="arabicPeriod"/>
            </a:pPr>
            <a:r>
              <a:rPr lang="en-GB" b="1"/>
              <a:t>Data Overload:</a:t>
            </a:r>
            <a:endParaRPr lang="en-GB"/>
          </a:p>
          <a:p>
            <a:pPr marL="742950" lvl="1" indent="-285750">
              <a:buFont typeface="+mj-lt"/>
              <a:buAutoNum type="arabicPeriod"/>
            </a:pPr>
            <a:r>
              <a:rPr lang="en-GB" b="1"/>
              <a:t>Description:</a:t>
            </a:r>
            <a:r>
              <a:rPr lang="en-GB"/>
              <a:t> Fraud detection often involves processing massive amounts of data in real-time. With the growth of digital transactions, online activities, and IoT devices, the volume of data has become overwhelming.</a:t>
            </a:r>
          </a:p>
          <a:p>
            <a:pPr marL="742950" lvl="1" indent="-285750">
              <a:buFont typeface="+mj-lt"/>
              <a:buAutoNum type="arabicPeriod"/>
            </a:pPr>
            <a:r>
              <a:rPr lang="en-GB" b="1"/>
              <a:t>Example:</a:t>
            </a:r>
            <a:r>
              <a:rPr lang="en-GB"/>
              <a:t> In a banking system, millions of transactions occur every second, and each must be analyzed for potential fraud. Manually analyzing such data is nearly impossible, and relying solely on automated systems can lead to missed or incorrectly flagged fraudulent activities.</a:t>
            </a:r>
          </a:p>
          <a:p>
            <a:pPr marL="742950" lvl="1" indent="-285750">
              <a:buFont typeface="+mj-lt"/>
              <a:buAutoNum type="arabicPeriod"/>
            </a:pPr>
            <a:r>
              <a:rPr lang="en-GB" b="1"/>
              <a:t>Impact:</a:t>
            </a:r>
            <a:r>
              <a:rPr lang="en-GB"/>
              <a:t> The challenge lies in efficiently analyzing large datasets while maintaining high detection accuracy. The risk is that fraud detection systems may struggle to identify fraud amidst the noise of legitimate transactions.</a:t>
            </a:r>
          </a:p>
          <a:p>
            <a:pPr>
              <a:buFont typeface="+mj-lt"/>
              <a:buAutoNum type="arabicPeriod"/>
            </a:pPr>
            <a:r>
              <a:rPr lang="en-GB" b="1"/>
              <a:t>False Positives:</a:t>
            </a:r>
            <a:endParaRPr lang="en-GB"/>
          </a:p>
          <a:p>
            <a:pPr marL="742950" lvl="1" indent="-285750">
              <a:buFont typeface="+mj-lt"/>
              <a:buAutoNum type="arabicPeriod"/>
            </a:pPr>
            <a:r>
              <a:rPr lang="en-GB" b="1"/>
              <a:t>Description:</a:t>
            </a:r>
            <a:r>
              <a:rPr lang="en-GB"/>
              <a:t> A </a:t>
            </a:r>
            <a:r>
              <a:rPr lang="en-GB" b="1"/>
              <a:t>false positive</a:t>
            </a:r>
            <a:r>
              <a:rPr lang="en-GB"/>
              <a:t> occurs when a legitimate activity is flagged as fraud. This is a significant challenge in fraud detection, especially when systems rely on rules or machine learning models that may not always recognize legitimate transactions.</a:t>
            </a:r>
          </a:p>
          <a:p>
            <a:pPr marL="742950" lvl="1" indent="-285750">
              <a:buFont typeface="+mj-lt"/>
              <a:buAutoNum type="arabicPeriod"/>
            </a:pPr>
            <a:r>
              <a:rPr lang="en-GB" b="1"/>
              <a:t>Example:</a:t>
            </a:r>
            <a:r>
              <a:rPr lang="en-GB"/>
              <a:t> A customer making a large purchase while traveling abroad may have their transaction flagged as suspicious, even though it is legitimate. This could lead to inconvenience for the customer, including delays or blocked transactions.</a:t>
            </a:r>
          </a:p>
          <a:p>
            <a:pPr marL="742950" lvl="1" indent="-285750">
              <a:buFont typeface="+mj-lt"/>
              <a:buAutoNum type="arabicPeriod"/>
            </a:pPr>
            <a:r>
              <a:rPr lang="en-GB" b="1"/>
              <a:t>Impact:</a:t>
            </a:r>
            <a:r>
              <a:rPr lang="en-GB"/>
              <a:t> False positives result in a poor user experience, customer dissatisfaction, and a loss of trust. Additionally, businesses may waste time and resources investigating legitimate transactions or responding to customer complaints.</a:t>
            </a:r>
          </a:p>
          <a:p>
            <a:pPr>
              <a:buFont typeface="+mj-lt"/>
              <a:buAutoNum type="arabicPeriod"/>
            </a:pPr>
            <a:r>
              <a:rPr lang="en-GB" b="1"/>
              <a:t>Cost of Implementation:</a:t>
            </a:r>
            <a:endParaRPr lang="en-GB"/>
          </a:p>
          <a:p>
            <a:pPr marL="742950" lvl="1" indent="-285750">
              <a:buFont typeface="+mj-lt"/>
              <a:buAutoNum type="arabicPeriod"/>
            </a:pPr>
            <a:r>
              <a:rPr lang="en-GB" b="1"/>
              <a:t>Description:</a:t>
            </a:r>
            <a:r>
              <a:rPr lang="en-GB"/>
              <a:t> Developing and maintaining a robust fraud detection system can be costly, especially for small or medium-sized businesses. The initial investment in technology, training, and system setup can be significant.</a:t>
            </a:r>
          </a:p>
          <a:p>
            <a:pPr marL="742950" lvl="1" indent="-285750">
              <a:buFont typeface="+mj-lt"/>
              <a:buAutoNum type="arabicPeriod"/>
            </a:pPr>
            <a:r>
              <a:rPr lang="en-GB" b="1"/>
              <a:t>Example:</a:t>
            </a:r>
            <a:r>
              <a:rPr lang="en-GB"/>
              <a:t> Advanced fraud detection solutions, such as machine learning models or AI-driven systems, require specialized software, computational resources, and expertise, which may not be feasible for all organizations.</a:t>
            </a:r>
          </a:p>
          <a:p>
            <a:pPr marL="742950" lvl="1" indent="-285750">
              <a:buFont typeface="+mj-lt"/>
              <a:buAutoNum type="arabicPeriod"/>
            </a:pPr>
            <a:r>
              <a:rPr lang="en-GB" b="1"/>
              <a:t>Impact:</a:t>
            </a:r>
            <a:r>
              <a:rPr lang="en-GB"/>
              <a:t> For many companies, especially those with limited budgets, the high costs of implementing fraud detection systems can be a deterrent. Additionally, ongoing maintenance and updates can add to the overall cost, requiring continuous investment to stay ahead of evolving fraud tactics.</a:t>
            </a:r>
          </a:p>
        </p:txBody>
      </p:sp>
    </p:spTree>
    <p:extLst>
      <p:ext uri="{BB962C8B-B14F-4D97-AF65-F5344CB8AC3E}">
        <p14:creationId xmlns:p14="http://schemas.microsoft.com/office/powerpoint/2010/main" val="316676613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Facet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thanujathanuja211@gmail.com</dc:creator>
  <cp:lastModifiedBy>thanujathanuja211@gmail.com</cp:lastModifiedBy>
  <cp:revision>1</cp:revision>
  <dcterms:created xsi:type="dcterms:W3CDTF">2025-02-02T13:33:36Z</dcterms:created>
  <dcterms:modified xsi:type="dcterms:W3CDTF">2025-02-02T13:34:31Z</dcterms:modified>
</cp:coreProperties>
</file>